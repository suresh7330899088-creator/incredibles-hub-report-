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sldIdLst>
    <p:sldId id="264" r:id="rId8"/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1.png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image" Target="../media/image2.png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../media/image3.png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image" Target="../media/image4.png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0" Type="http://schemas.openxmlformats.org/officeDocument/2006/relationships/tags" Target="../tags/tag146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0" Type="http://schemas.openxmlformats.org/officeDocument/2006/relationships/tags" Target="../tags/tag204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tags" Target="../tags/tag234.xml"/><Relationship Id="rId25" Type="http://schemas.openxmlformats.org/officeDocument/2006/relationships/tags" Target="../tags/tag233.xml"/><Relationship Id="rId24" Type="http://schemas.openxmlformats.org/officeDocument/2006/relationships/tags" Target="../tags/tag232.xml"/><Relationship Id="rId23" Type="http://schemas.openxmlformats.org/officeDocument/2006/relationships/tags" Target="../tags/tag231.xml"/><Relationship Id="rId22" Type="http://schemas.openxmlformats.org/officeDocument/2006/relationships/tags" Target="../tags/tag230.xml"/><Relationship Id="rId21" Type="http://schemas.openxmlformats.org/officeDocument/2006/relationships/tags" Target="../tags/tag229.xml"/><Relationship Id="rId20" Type="http://schemas.openxmlformats.org/officeDocument/2006/relationships/tags" Target="../tags/tag228.xml"/><Relationship Id="rId2" Type="http://schemas.openxmlformats.org/officeDocument/2006/relationships/tags" Target="../tags/tag212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tags" Target="../tags/tag222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2" Type="http://schemas.openxmlformats.org/officeDocument/2006/relationships/tags" Target="../tags/tag269.xml"/><Relationship Id="rId21" Type="http://schemas.openxmlformats.org/officeDocument/2006/relationships/tags" Target="../tags/tag268.xml"/><Relationship Id="rId20" Type="http://schemas.openxmlformats.org/officeDocument/2006/relationships/tags" Target="../tags/tag267.xml"/><Relationship Id="rId2" Type="http://schemas.openxmlformats.org/officeDocument/2006/relationships/tags" Target="../tags/tag251.xml"/><Relationship Id="rId19" Type="http://schemas.openxmlformats.org/officeDocument/2006/relationships/tags" Target="../tags/tag266.xml"/><Relationship Id="rId18" Type="http://schemas.openxmlformats.org/officeDocument/2006/relationships/tags" Target="../tags/tag265.xml"/><Relationship Id="rId17" Type="http://schemas.openxmlformats.org/officeDocument/2006/relationships/tags" Target="../tags/tag264.xml"/><Relationship Id="rId16" Type="http://schemas.openxmlformats.org/officeDocument/2006/relationships/tags" Target="../tags/tag263.xml"/><Relationship Id="rId15" Type="http://schemas.openxmlformats.org/officeDocument/2006/relationships/tags" Target="../tags/tag262.xml"/><Relationship Id="rId14" Type="http://schemas.openxmlformats.org/officeDocument/2006/relationships/tags" Target="../tags/tag261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tags" Target="../tags/tag290.xm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tags" Target="../tags/tag306.xml"/><Relationship Id="rId7" Type="http://schemas.openxmlformats.org/officeDocument/2006/relationships/tags" Target="../tags/tag305.xml"/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2" Type="http://schemas.openxmlformats.org/officeDocument/2006/relationships/tags" Target="../tags/tag318.xml"/><Relationship Id="rId21" Type="http://schemas.openxmlformats.org/officeDocument/2006/relationships/tags" Target="../tags/tag317.xml"/><Relationship Id="rId20" Type="http://schemas.openxmlformats.org/officeDocument/2006/relationships/tags" Target="../tags/tag316.xml"/><Relationship Id="rId2" Type="http://schemas.openxmlformats.org/officeDocument/2006/relationships/tags" Target="../tags/tag300.xml"/><Relationship Id="rId19" Type="http://schemas.openxmlformats.org/officeDocument/2006/relationships/tags" Target="../tags/tag315.xml"/><Relationship Id="rId18" Type="http://schemas.openxmlformats.org/officeDocument/2006/relationships/tags" Target="../tags/tag314.xml"/><Relationship Id="rId17" Type="http://schemas.openxmlformats.org/officeDocument/2006/relationships/tags" Target="../tags/tag313.xml"/><Relationship Id="rId16" Type="http://schemas.openxmlformats.org/officeDocument/2006/relationships/tags" Target="../tags/tag312.xml"/><Relationship Id="rId15" Type="http://schemas.openxmlformats.org/officeDocument/2006/relationships/tags" Target="../tags/tag311.xml"/><Relationship Id="rId14" Type="http://schemas.openxmlformats.org/officeDocument/2006/relationships/tags" Target="../tags/tag310.xml"/><Relationship Id="rId13" Type="http://schemas.openxmlformats.org/officeDocument/2006/relationships/tags" Target="../tags/tag309.xml"/><Relationship Id="rId12" Type="http://schemas.openxmlformats.org/officeDocument/2006/relationships/tags" Target="../tags/tag308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0" Type="http://schemas.openxmlformats.org/officeDocument/2006/relationships/tags" Target="../tags/tag337.xml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7" Type="http://schemas.openxmlformats.org/officeDocument/2006/relationships/tags" Target="../tags/tag348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356.xml"/><Relationship Id="rId8" Type="http://schemas.openxmlformats.org/officeDocument/2006/relationships/tags" Target="../tags/tag355.xml"/><Relationship Id="rId7" Type="http://schemas.openxmlformats.org/officeDocument/2006/relationships/tags" Target="../tags/tag354.xml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370.xml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openxmlformats.org/officeDocument/2006/relationships/tags" Target="../tags/tag391.xml"/><Relationship Id="rId5" Type="http://schemas.openxmlformats.org/officeDocument/2006/relationships/tags" Target="../tags/tag390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0" Type="http://schemas.openxmlformats.org/officeDocument/2006/relationships/tags" Target="../tags/tag395.xml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521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32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3547" y="4379976"/>
            <a:ext cx="1609260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7969" y="3617849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612" y="1862454"/>
            <a:ext cx="9467357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612" y="4790127"/>
            <a:ext cx="749197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509" y="1005840"/>
            <a:ext cx="4343174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379" y="0"/>
            <a:ext cx="3977433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8805" y="2637205"/>
            <a:ext cx="287985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110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3587" y="1463040"/>
            <a:ext cx="877778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024" y="301752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585" y="1621790"/>
            <a:ext cx="5463890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459" y="665438"/>
            <a:ext cx="4402679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764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2871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364400"/>
            <a:ext cx="51575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764" y="2061275"/>
            <a:ext cx="51575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283" y="1364400"/>
            <a:ext cx="51829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283" y="2061275"/>
            <a:ext cx="51829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156" y="360000"/>
            <a:ext cx="1051505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296000"/>
            <a:ext cx="1079943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369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6695" y="1152144"/>
            <a:ext cx="1298380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173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080" y="3429000"/>
            <a:ext cx="530324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404" y="555752"/>
            <a:ext cx="10095974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404" y="4217290"/>
            <a:ext cx="10095974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4849" y="1742132"/>
            <a:ext cx="10776516" cy="51158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654" y="1306195"/>
            <a:ext cx="6951618" cy="24491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54" y="4182110"/>
            <a:ext cx="3918381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551882"/>
            <a:ext cx="7341462" cy="43029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114306" y="1303507"/>
            <a:ext cx="2879850" cy="2346658"/>
          </a:xfrm>
        </p:spPr>
        <p:txBody>
          <a:bodyPr anchor="ctr">
            <a:normAutofit/>
          </a:bodyPr>
          <a:lstStyle>
            <a:lvl1pPr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87574" y="1496287"/>
            <a:ext cx="9203791" cy="53584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322001" y="3168015"/>
            <a:ext cx="8319337" cy="2193925"/>
          </a:xfrm>
        </p:spPr>
        <p:txBody>
          <a:bodyPr anchor="t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322001" y="1767840"/>
            <a:ext cx="8319337" cy="122428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8000" b="1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763" y="1266825"/>
            <a:ext cx="518133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2871" y="1266825"/>
            <a:ext cx="518133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64" y="1277189"/>
            <a:ext cx="515751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764" y="1916723"/>
            <a:ext cx="515751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283" y="1277189"/>
            <a:ext cx="518291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283" y="1916723"/>
            <a:ext cx="518291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5764" y="360000"/>
            <a:ext cx="10813487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63" y="1266825"/>
            <a:ext cx="10804488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175" y="1409248"/>
            <a:ext cx="9791189" cy="54487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763" y="1954800"/>
            <a:ext cx="6094483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54" y="4182110"/>
            <a:ext cx="3918381" cy="50419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521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32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3547" y="4379976"/>
            <a:ext cx="1609260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7969" y="3617849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612" y="1862454"/>
            <a:ext cx="9467357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612" y="4790127"/>
            <a:ext cx="749197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509" y="1005840"/>
            <a:ext cx="4343174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379" y="0"/>
            <a:ext cx="3977433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8805" y="2637205"/>
            <a:ext cx="287985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110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3587" y="1463040"/>
            <a:ext cx="877778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024" y="301752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585" y="1621790"/>
            <a:ext cx="5463890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459" y="665438"/>
            <a:ext cx="4402679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764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2871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364400"/>
            <a:ext cx="51575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764" y="2061275"/>
            <a:ext cx="51575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283" y="1364400"/>
            <a:ext cx="51829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283" y="2061275"/>
            <a:ext cx="51829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156" y="360000"/>
            <a:ext cx="1051505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296000"/>
            <a:ext cx="1079943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369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6695" y="1152144"/>
            <a:ext cx="1298380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173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080" y="3429000"/>
            <a:ext cx="530324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404" y="555752"/>
            <a:ext cx="10095974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404" y="4217290"/>
            <a:ext cx="10095974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19704" y="3429000"/>
            <a:ext cx="306851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763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134" y="5241025"/>
            <a:ext cx="114950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44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173" y="1646415"/>
            <a:ext cx="372174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4835" y="1806269"/>
            <a:ext cx="3203332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59557" y="4209212"/>
            <a:ext cx="368557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419" y="1962602"/>
            <a:ext cx="651468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156" y="1121410"/>
            <a:ext cx="634522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55" y="4009006"/>
            <a:ext cx="5934790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07" y="5116537"/>
            <a:ext cx="287985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226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296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157" y="1860552"/>
            <a:ext cx="10515052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33" y="565150"/>
            <a:ext cx="3198328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49" y="3925701"/>
            <a:ext cx="1827904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1889" y="1267996"/>
            <a:ext cx="249417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839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776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614" y="1724416"/>
            <a:ext cx="261752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3978" y="1866175"/>
            <a:ext cx="643552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11" y="2619139"/>
            <a:ext cx="3737016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7636" y="5708698"/>
            <a:ext cx="107994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217" y="1174224"/>
            <a:ext cx="1676786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391" y="1174225"/>
            <a:ext cx="1676786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572" y="2974340"/>
            <a:ext cx="5852490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188" y="1631269"/>
            <a:ext cx="4978735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29" y="5956300"/>
            <a:ext cx="9270995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800152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7818" y="3925570"/>
            <a:ext cx="2934182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51" y="970310"/>
            <a:ext cx="10620161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622" y="966964"/>
            <a:ext cx="4484758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866" y="5231764"/>
            <a:ext cx="10517342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6667" y="1773850"/>
            <a:ext cx="3773999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357" y="5666440"/>
            <a:ext cx="5233941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156" y="1265786"/>
            <a:ext cx="595894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30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19585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521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32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3547" y="4379976"/>
            <a:ext cx="1609260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7969" y="3617849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612" y="1862454"/>
            <a:ext cx="9467357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612" y="4790127"/>
            <a:ext cx="749197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509" y="1005840"/>
            <a:ext cx="4343174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379" y="0"/>
            <a:ext cx="3977433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8805" y="2637205"/>
            <a:ext cx="287985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110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3587" y="1463040"/>
            <a:ext cx="877778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024" y="301752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585" y="1621790"/>
            <a:ext cx="5463890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459" y="665438"/>
            <a:ext cx="4402679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764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2871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364400"/>
            <a:ext cx="51575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764" y="2061275"/>
            <a:ext cx="51575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283" y="1364400"/>
            <a:ext cx="51829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283" y="2061275"/>
            <a:ext cx="51829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156" y="360000"/>
            <a:ext cx="1051505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296000"/>
            <a:ext cx="1079943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369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6695" y="1152144"/>
            <a:ext cx="1298380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173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080" y="3429000"/>
            <a:ext cx="530324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404" y="555752"/>
            <a:ext cx="10095974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404" y="4217290"/>
            <a:ext cx="10095974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7" Type="http://schemas.openxmlformats.org/officeDocument/2006/relationships/theme" Target="../theme/theme3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9" Type="http://schemas.openxmlformats.org/officeDocument/2006/relationships/theme" Target="../theme/theme4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4" Type="http://schemas.openxmlformats.org/officeDocument/2006/relationships/theme" Target="../theme/theme5.xml"/><Relationship Id="rId23" Type="http://schemas.openxmlformats.org/officeDocument/2006/relationships/tags" Target="../tags/tag328.xml"/><Relationship Id="rId22" Type="http://schemas.openxmlformats.org/officeDocument/2006/relationships/tags" Target="../tags/tag327.xml"/><Relationship Id="rId21" Type="http://schemas.openxmlformats.org/officeDocument/2006/relationships/tags" Target="../tags/tag326.xml"/><Relationship Id="rId20" Type="http://schemas.openxmlformats.org/officeDocument/2006/relationships/tags" Target="../tags/tag325.xml"/><Relationship Id="rId2" Type="http://schemas.openxmlformats.org/officeDocument/2006/relationships/slideLayout" Target="../slideLayouts/slideLayout46.xml"/><Relationship Id="rId19" Type="http://schemas.openxmlformats.org/officeDocument/2006/relationships/tags" Target="../tags/tag324.xml"/><Relationship Id="rId18" Type="http://schemas.openxmlformats.org/officeDocument/2006/relationships/tags" Target="../tags/tag323.xml"/><Relationship Id="rId17" Type="http://schemas.openxmlformats.org/officeDocument/2006/relationships/image" Target="../media/image8.svg"/><Relationship Id="rId16" Type="http://schemas.openxmlformats.org/officeDocument/2006/relationships/image" Target="../media/image7.png"/><Relationship Id="rId15" Type="http://schemas.openxmlformats.org/officeDocument/2006/relationships/tags" Target="../tags/tag322.xml"/><Relationship Id="rId14" Type="http://schemas.openxmlformats.org/officeDocument/2006/relationships/tags" Target="../tags/tag32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9" Type="http://schemas.openxmlformats.org/officeDocument/2006/relationships/tags" Target="../tags/tag403.xml"/><Relationship Id="rId18" Type="http://schemas.openxmlformats.org/officeDocument/2006/relationships/tags" Target="../tags/tag402.xml"/><Relationship Id="rId17" Type="http://schemas.openxmlformats.org/officeDocument/2006/relationships/tags" Target="../tags/tag401.xml"/><Relationship Id="rId16" Type="http://schemas.openxmlformats.org/officeDocument/2006/relationships/tags" Target="../tags/tag400.xml"/><Relationship Id="rId15" Type="http://schemas.openxmlformats.org/officeDocument/2006/relationships/tags" Target="../tags/tag399.xml"/><Relationship Id="rId14" Type="http://schemas.openxmlformats.org/officeDocument/2006/relationships/tags" Target="../tags/tag398.xml"/><Relationship Id="rId13" Type="http://schemas.openxmlformats.org/officeDocument/2006/relationships/tags" Target="../tags/tag397.xml"/><Relationship Id="rId12" Type="http://schemas.openxmlformats.org/officeDocument/2006/relationships/tags" Target="../tags/tag39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6765" y="0"/>
            <a:ext cx="1691552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09" y="5687568"/>
            <a:ext cx="2715627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64" y="1364400"/>
            <a:ext cx="10799438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6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14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763" y="1266825"/>
            <a:ext cx="10799437" cy="49107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763" y="6356350"/>
            <a:ext cx="2886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152" y="6356350"/>
            <a:ext cx="2884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6765" y="0"/>
            <a:ext cx="1691552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09" y="5687568"/>
            <a:ext cx="2715627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64" y="1364400"/>
            <a:ext cx="10799438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6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14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363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1615" y="4613195"/>
            <a:ext cx="939750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363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  <a:ea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6765" y="0"/>
            <a:ext cx="1691552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09" y="5687568"/>
            <a:ext cx="2715627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64" y="1364400"/>
            <a:ext cx="10799438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6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14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tags" Target="../tags/tag404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2.xml"/><Relationship Id="rId5" Type="http://schemas.openxmlformats.org/officeDocument/2006/relationships/tags" Target="../tags/tag409.xml"/><Relationship Id="rId4" Type="http://schemas.openxmlformats.org/officeDocument/2006/relationships/tags" Target="../tags/tag408.xml"/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" Type="http://schemas.openxmlformats.org/officeDocument/2006/relationships/tags" Target="../tags/tag40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7.xml"/><Relationship Id="rId5" Type="http://schemas.openxmlformats.org/officeDocument/2006/relationships/tags" Target="../tags/tag414.xml"/><Relationship Id="rId4" Type="http://schemas.openxmlformats.org/officeDocument/2006/relationships/tags" Target="../tags/tag413.xml"/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8" Type="http://schemas.openxmlformats.org/officeDocument/2006/relationships/slideLayout" Target="../slideLayouts/slideLayout57.xml"/><Relationship Id="rId17" Type="http://schemas.openxmlformats.org/officeDocument/2006/relationships/tags" Target="../tags/tag431.xml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tags" Target="../tags/tag41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2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tags" Target="../tags/tag43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7.xml"/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" Type="http://schemas.openxmlformats.org/officeDocument/2006/relationships/tags" Target="../tags/tag439.xml"/><Relationship Id="rId2" Type="http://schemas.openxmlformats.org/officeDocument/2006/relationships/tags" Target="../tags/tag438.xml"/><Relationship Id="rId1" Type="http://schemas.openxmlformats.org/officeDocument/2006/relationships/tags" Target="../tags/tag4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50.xml"/><Relationship Id="rId8" Type="http://schemas.openxmlformats.org/officeDocument/2006/relationships/tags" Target="../tags/tag449.xml"/><Relationship Id="rId7" Type="http://schemas.openxmlformats.org/officeDocument/2006/relationships/tags" Target="../tags/tag448.xml"/><Relationship Id="rId6" Type="http://schemas.openxmlformats.org/officeDocument/2006/relationships/tags" Target="../tags/tag447.xml"/><Relationship Id="rId5" Type="http://schemas.openxmlformats.org/officeDocument/2006/relationships/tags" Target="../tags/tag446.xml"/><Relationship Id="rId4" Type="http://schemas.openxmlformats.org/officeDocument/2006/relationships/tags" Target="../tags/tag445.xml"/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0" Type="http://schemas.openxmlformats.org/officeDocument/2006/relationships/slideLayout" Target="../slideLayouts/slideLayout57.xml"/><Relationship Id="rId1" Type="http://schemas.openxmlformats.org/officeDocument/2006/relationships/tags" Target="../tags/tag44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7.xml"/><Relationship Id="rId5" Type="http://schemas.openxmlformats.org/officeDocument/2006/relationships/tags" Target="../tags/tag455.xml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" Type="http://schemas.openxmlformats.org/officeDocument/2006/relationships/tags" Target="../tags/tag452.xml"/><Relationship Id="rId1" Type="http://schemas.openxmlformats.org/officeDocument/2006/relationships/tags" Target="../tags/tag4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61895" y="360045"/>
            <a:ext cx="9032240" cy="720090"/>
          </a:xfrm>
        </p:spPr>
        <p:txBody>
          <a:bodyPr/>
          <a:p>
            <a:r>
              <a:rPr lang="en-US"/>
              <a:t>    INCREDIBLES HUB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26390" y="1835150"/>
            <a:ext cx="7654290" cy="4600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400">
                <a:latin typeface="Angsana New" panose="02020603050405020304" charset="0"/>
                <a:cs typeface="Angsana New" panose="02020603050405020304" charset="0"/>
              </a:rPr>
              <a:t>PROBLEM STATEMENT-6</a:t>
            </a:r>
            <a:endParaRPr lang="en-US" sz="4400">
              <a:latin typeface="Angsana New" panose="02020603050405020304" charset="0"/>
              <a:cs typeface="Angsana New" panose="02020603050405020304" charset="0"/>
            </a:endParaRPr>
          </a:p>
          <a:p>
            <a:endParaRPr lang="en-US">
              <a:latin typeface="Angsana New" panose="02020603050405020304" charset="0"/>
              <a:cs typeface="Angsana New" panose="02020603050405020304" charset="0"/>
            </a:endParaRPr>
          </a:p>
          <a:p>
            <a:r>
              <a:rPr lang="en-US"/>
              <a:t> 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B.SURESH [25MVCSMR0378]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Y.VINAY TEJA [25MVCSMR0452]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P.MANISH KUMAR [25MVCSMR0428]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A.ADVAITH [25MVCSMR0371]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72440" y="1441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_______________________________________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188210" y="2560320"/>
            <a:ext cx="7785100" cy="44513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ctr">
              <a:defRPr sz="2300"/>
            </a:pPr>
            <a:r>
              <a:rPr>
                <a:solidFill>
                  <a:schemeClr val="tx1"/>
                </a:solidFill>
              </a:rPr>
              <a:t>Algorithm-Centric Analysis using Dijkstra &amp; Floyd–Warshall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3258185" y="3886200"/>
            <a:ext cx="5645150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rPr>
                <a:solidFill>
                  <a:schemeClr val="tx1"/>
                </a:solidFill>
              </a:rPr>
              <a:t>Python • Flask • React • OpenStreetMap / Leaflet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17663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1000"/>
            </a:pPr>
            <a:r>
              <a:rPr>
                <a:solidFill>
                  <a:schemeClr val="tx1"/>
                </a:solidFill>
              </a:rPr>
              <a:t>1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Traffic Route Optimization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Content Placeholder 3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4764" y="1364400"/>
            <a:ext cx="10799438" cy="4813200"/>
          </a:xfrm>
        </p:spPr>
        <p:txBody>
          <a:bodyPr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822960" y="1371600"/>
            <a:ext cx="10607040" cy="248666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000"/>
              </a:spcAft>
              <a:defRPr sz="1900"/>
            </a:pPr>
            <a:r>
              <a:rPr>
                <a:solidFill>
                  <a:schemeClr val="tx1"/>
                </a:solidFill>
              </a:rPr>
              <a:t>Model a real-world road network as a weighted graph.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900"/>
            </a:pPr>
            <a:r>
              <a:rPr>
                <a:solidFill>
                  <a:schemeClr val="tx1"/>
                </a:solidFill>
              </a:rPr>
              <a:t>Locations/intersections are vertices; roads are edges.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900"/>
            </a:pPr>
            <a:r>
              <a:rPr>
                <a:solidFill>
                  <a:schemeClr val="tx1"/>
                </a:solidFill>
              </a:rPr>
              <a:t>Edge weights represent travel time, distance, delay, or other travel cost.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900"/>
            </a:pPr>
            <a:r>
              <a:rPr>
                <a:solidFill>
                  <a:schemeClr val="tx1"/>
                </a:solidFill>
              </a:rPr>
              <a:t>Traffic congestion dynamically changes road weights.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900"/>
            </a:pPr>
            <a:r>
              <a:rPr>
                <a:solidFill>
                  <a:schemeClr val="tx1"/>
                </a:solidFill>
              </a:rPr>
              <a:t>Find efficient routes and compare routing strategies before and after congestion.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900"/>
            </a:pPr>
            <a:r>
              <a:rPr>
                <a:solidFill>
                  <a:schemeClr val="tx1"/>
                </a:solidFill>
              </a:rPr>
              <a:t>Make algorithm decisions visible rather than showing only the final route.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117663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1000"/>
            </a:pPr>
            <a:r>
              <a:rPr>
                <a:solidFill>
                  <a:schemeClr val="tx1"/>
                </a:solidFill>
              </a:rPr>
              <a:t>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9" name="Title 2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1. Problem Statement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" name="Connector 2"/>
          <p:cNvCxnSpPr/>
          <p:nvPr>
            <p:custDataLst>
              <p:tags r:id="rId1"/>
            </p:custDataLst>
          </p:nvPr>
        </p:nvCxnSpPr>
        <p:spPr>
          <a:xfrm flipV="1">
            <a:off x="1280160" y="1828800"/>
            <a:ext cx="3291840" cy="10972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4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764" y="1364400"/>
            <a:ext cx="10799438" cy="4813200"/>
          </a:xfrm>
        </p:spPr>
        <p:txBody>
          <a:bodyPr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039428" y="2148840"/>
            <a:ext cx="32194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rPr>
                <a:solidFill>
                  <a:schemeClr val="tx1"/>
                </a:solidFill>
              </a:rPr>
              <a:t>5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5" name="Connector 4"/>
          <p:cNvCxnSpPr/>
          <p:nvPr>
            <p:custDataLst>
              <p:tags r:id="rId4"/>
            </p:custDataLst>
          </p:nvPr>
        </p:nvCxnSpPr>
        <p:spPr>
          <a:xfrm>
            <a:off x="1280160" y="2926080"/>
            <a:ext cx="3291840" cy="11887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3039428" y="3291840"/>
            <a:ext cx="32194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rPr>
                <a:solidFill>
                  <a:schemeClr val="tx1"/>
                </a:solidFill>
              </a:rPr>
              <a:t>2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7" name="Connector 6"/>
          <p:cNvCxnSpPr/>
          <p:nvPr>
            <p:custDataLst>
              <p:tags r:id="rId6"/>
            </p:custDataLst>
          </p:nvPr>
        </p:nvCxnSpPr>
        <p:spPr>
          <a:xfrm>
            <a:off x="4572000" y="1828800"/>
            <a:ext cx="3383279" cy="10972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6376988" y="2148840"/>
            <a:ext cx="32194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rPr>
                <a:solidFill>
                  <a:schemeClr val="tx1"/>
                </a:solidFill>
              </a:rPr>
              <a:t>3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9" name="Connector 8"/>
          <p:cNvCxnSpPr/>
          <p:nvPr>
            <p:custDataLst>
              <p:tags r:id="rId8"/>
            </p:custDataLst>
          </p:nvPr>
        </p:nvCxnSpPr>
        <p:spPr>
          <a:xfrm flipV="1">
            <a:off x="4572000" y="2926080"/>
            <a:ext cx="3383279" cy="11887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6376988" y="3291840"/>
            <a:ext cx="32194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rPr>
                <a:solidFill>
                  <a:schemeClr val="tx1"/>
                </a:solidFill>
              </a:rPr>
              <a:t>4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>
            <p:custDataLst>
              <p:tags r:id="rId10"/>
            </p:custDataLst>
          </p:nvPr>
        </p:nvSpPr>
        <p:spPr>
          <a:xfrm>
            <a:off x="960119" y="260604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/>
            </a:pPr>
            <a:r>
              <a:rPr>
                <a:solidFill>
                  <a:schemeClr val="tx1"/>
                </a:solidFill>
              </a:rPr>
              <a:t>A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>
            <p:custDataLst>
              <p:tags r:id="rId11"/>
            </p:custDataLst>
          </p:nvPr>
        </p:nvSpPr>
        <p:spPr>
          <a:xfrm>
            <a:off x="4251960" y="15087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/>
            </a:pPr>
            <a:r>
              <a:rPr>
                <a:solidFill>
                  <a:schemeClr val="tx1"/>
                </a:solidFill>
              </a:rPr>
              <a:t>B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>
            <p:custDataLst>
              <p:tags r:id="rId12"/>
            </p:custDataLst>
          </p:nvPr>
        </p:nvSpPr>
        <p:spPr>
          <a:xfrm>
            <a:off x="4251960" y="37947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/>
            </a:pPr>
            <a:r>
              <a:rPr>
                <a:solidFill>
                  <a:schemeClr val="tx1"/>
                </a:solidFill>
              </a:rPr>
              <a:t>C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13"/>
            </p:custDataLst>
          </p:nvPr>
        </p:nvSpPr>
        <p:spPr>
          <a:xfrm>
            <a:off x="7635240" y="260604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/>
            </a:pPr>
            <a:r>
              <a:rPr>
                <a:solidFill>
                  <a:schemeClr val="tx1"/>
                </a:solidFill>
              </a:rPr>
              <a:t>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14"/>
            </p:custDataLst>
          </p:nvPr>
        </p:nvSpPr>
        <p:spPr>
          <a:xfrm>
            <a:off x="8961120" y="1554480"/>
            <a:ext cx="2977515" cy="208407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>
              <a:spcAft>
                <a:spcPts val="900"/>
              </a:spcAft>
              <a:defRPr sz="1700" b="1"/>
            </a:pPr>
            <a:r>
              <a:rPr>
                <a:solidFill>
                  <a:schemeClr val="tx1"/>
                </a:solidFill>
              </a:rPr>
              <a:t>Objective: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900"/>
              </a:spcAft>
              <a:defRPr sz="1500" b="0"/>
            </a:pPr>
            <a:r>
              <a:rPr>
                <a:solidFill>
                  <a:schemeClr val="tx1"/>
                </a:solidFill>
              </a:rPr>
              <a:t>Minimize total travel cost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900"/>
              </a:spcAft>
              <a:defRPr sz="1500" b="0"/>
            </a:pPr>
            <a:r>
              <a:rPr>
                <a:solidFill>
                  <a:schemeClr val="tx1"/>
                </a:solidFill>
              </a:rPr>
              <a:t>Cost(P) = Σ edge weights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900"/>
              </a:spcAft>
              <a:defRPr sz="1500" b="0"/>
            </a:pPr>
            <a:r>
              <a:rPr>
                <a:solidFill>
                  <a:schemeClr val="tx1"/>
                </a:solidFill>
              </a:rPr>
              <a:t>A → C → D = 2 + 4 = 6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900"/>
              </a:spcAft>
              <a:defRPr sz="1500" b="0"/>
            </a:pPr>
            <a:r>
              <a:rPr>
                <a:solidFill>
                  <a:schemeClr val="tx1"/>
                </a:solidFill>
              </a:rPr>
              <a:t>A → B → D = 5 + 3 = 8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900"/>
              </a:spcAft>
              <a:defRPr sz="1500" b="0"/>
            </a:pPr>
            <a:r>
              <a:rPr>
                <a:solidFill>
                  <a:schemeClr val="tx1"/>
                </a:solidFill>
              </a:rPr>
              <a:t>Selected initial route: A → C → 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5"/>
            </p:custDataLst>
          </p:nvPr>
        </p:nvSpPr>
        <p:spPr>
          <a:xfrm>
            <a:off x="1117663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1000"/>
            </a:pPr>
            <a:r>
              <a:rPr>
                <a:solidFill>
                  <a:schemeClr val="tx1"/>
                </a:solidFill>
              </a:rPr>
              <a:t>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2" name="Title 4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2. Graph Model &amp; Optimization Objective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731520" y="1371600"/>
            <a:ext cx="4608195" cy="2281555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>
              <a:defRPr sz="2400" b="1"/>
            </a:pPr>
            <a:r>
              <a:rPr>
                <a:solidFill>
                  <a:schemeClr val="tx1"/>
                </a:solidFill>
              </a:rPr>
              <a:t>Dijkstra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Single-source shortest path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Works with non-negative edge weights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Selects cheapest unexplored node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Updates tentative distances and predecessors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Reconstructs the final route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6309360" y="1371600"/>
            <a:ext cx="4284345" cy="2281555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pPr>
              <a:defRPr sz="2400" b="1"/>
            </a:pPr>
            <a:r>
              <a:rPr>
                <a:solidFill>
                  <a:schemeClr val="tx1"/>
                </a:solidFill>
              </a:rPr>
              <a:t>Floyd–Warshall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All-pairs shortest paths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Considers each vertex as an intermediate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d[i][j] = min(d[i][j], d[i][k] + d[k][j])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Useful for many source-destination queries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700"/>
            </a:pPr>
            <a:r>
              <a:rPr>
                <a:solidFill>
                  <a:schemeClr val="tx1"/>
                </a:solidFill>
              </a:rPr>
              <a:t>Time complexity: O(V³)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17663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1000"/>
            </a:pPr>
            <a:r>
              <a:rPr>
                <a:solidFill>
                  <a:schemeClr val="tx1"/>
                </a:solidFill>
              </a:rPr>
              <a:t>4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3. Core Algorithms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822960" y="1325880"/>
            <a:ext cx="10607040" cy="279971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Start with base travel costs for every road.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User selects a road and changes its congestion level.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Model: New Cost = Base Cost × (1 + Congestion Factor).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Example: C → D changes from 4 minutes to 10 minutes.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Before congestion: A → C → D = 6 minutes.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After congestion: A → B → D = 8 minutes.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Rerun the algorithm and make the route change visible.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2" name="Content Placeholder 3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764" y="1364400"/>
            <a:ext cx="10799438" cy="4813200"/>
          </a:xfrm>
        </p:spPr>
        <p:txBody>
          <a:bodyPr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117663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1000"/>
            </a:pPr>
            <a:r>
              <a:rPr>
                <a:solidFill>
                  <a:schemeClr val="tx1"/>
                </a:solidFill>
              </a:rPr>
              <a:t>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0" name="Title 2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4. Congestion Simulation &amp; Route Comparison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914400" y="1234440"/>
            <a:ext cx="10241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React + Leaflet</a:t>
            </a:r>
            <a:endParaRPr>
              <a:solidFill>
                <a:schemeClr val="tx1"/>
              </a:solidFill>
            </a:endParaRPr>
          </a:p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Map, controls, route visualization, algorithm steps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6" name="Content Placeholder 3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764" y="1364400"/>
            <a:ext cx="10799438" cy="4813200"/>
          </a:xfrm>
        </p:spPr>
        <p:txBody>
          <a:bodyPr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sp>
        <p:nvSpPr>
          <p:cNvPr id="4" name="Rounded Rectangle 3"/>
          <p:cNvSpPr/>
          <p:nvPr>
            <p:custDataLst>
              <p:tags r:id="rId3"/>
            </p:custDataLst>
          </p:nvPr>
        </p:nvSpPr>
        <p:spPr>
          <a:xfrm>
            <a:off x="914400" y="2194560"/>
            <a:ext cx="10241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Flask REST API</a:t>
            </a:r>
            <a:endParaRPr>
              <a:solidFill>
                <a:schemeClr val="tx1"/>
              </a:solidFill>
            </a:endParaRPr>
          </a:p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Receives route/congestion requests and returns results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4"/>
            </p:custDataLst>
          </p:nvPr>
        </p:nvSpPr>
        <p:spPr>
          <a:xfrm>
            <a:off x="914400" y="3154680"/>
            <a:ext cx="10241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Graph Model</a:t>
            </a:r>
            <a:endParaRPr>
              <a:solidFill>
                <a:schemeClr val="tx1"/>
              </a:solidFill>
            </a:endParaRPr>
          </a:p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Locations, roads, costs, congestion values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>
            <p:custDataLst>
              <p:tags r:id="rId5"/>
            </p:custDataLst>
          </p:nvPr>
        </p:nvSpPr>
        <p:spPr>
          <a:xfrm>
            <a:off x="914400" y="4114800"/>
            <a:ext cx="10241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Algorithms</a:t>
            </a:r>
            <a:endParaRPr>
              <a:solidFill>
                <a:schemeClr val="tx1"/>
              </a:solidFill>
            </a:endParaRPr>
          </a:p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Dijkstra + Floyd–Warshall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>
            <p:custDataLst>
              <p:tags r:id="rId6"/>
            </p:custDataLst>
          </p:nvPr>
        </p:nvSpPr>
        <p:spPr>
          <a:xfrm>
            <a:off x="914400" y="5074920"/>
            <a:ext cx="10241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Output</a:t>
            </a:r>
            <a:endParaRPr>
              <a:solidFill>
                <a:schemeClr val="tx1"/>
              </a:solidFill>
            </a:endParaRPr>
          </a:p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Optimal route, total cost, visited nodes, before/after comparison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1117663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1000"/>
            </a:pPr>
            <a:r>
              <a:rPr>
                <a:solidFill>
                  <a:schemeClr val="tx1"/>
                </a:solidFill>
              </a:rPr>
              <a:t>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5. Proposed System Architecture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822960" y="1325880"/>
            <a:ext cx="10607040" cy="2394585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Interactive map showing nodes, roads, congestion, and selected routes.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Dijkstra view: tentative distances, visited order, and path reconstruction.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Floyd–Warshall view: shortest-path matrix and intermediate updates.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Route comparison: path, total cost, and effect of congestion.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Algorithm comparison demonstrates single-source versus all-pairs routing use cases.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800"/>
            </a:pPr>
            <a:r>
              <a:rPr>
                <a:solidFill>
                  <a:schemeClr val="tx1"/>
                </a:solidFill>
              </a:rPr>
              <a:t>Key takeaway: dynamic traffic changes can be modeled through changing graph edge weights.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2" name="Content Placeholder 3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764" y="1364400"/>
            <a:ext cx="10799438" cy="4813200"/>
          </a:xfrm>
        </p:spPr>
        <p:txBody>
          <a:bodyPr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117663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1000"/>
            </a:pPr>
            <a:r>
              <a:rPr>
                <a:solidFill>
                  <a:schemeClr val="tx1"/>
                </a:solidFill>
              </a:rPr>
              <a:t>7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0" name="Title 2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6. Expected Output &amp; Project Significance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1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20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1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2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6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3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9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39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4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0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0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07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SLIDE_TYPE" val="text"/>
  <p:tag name="KSO_WM_BEAUTIFY_FLAG" val="#wm#"/>
  <p:tag name="KSO_WM_SLIDE_THEME_ID" val="3321190"/>
  <p:tag name="KSO_WM_SLIDE_THEME_NAME" val="Yellow Line Minimalist"/>
</p:tagLst>
</file>

<file path=ppt/tags/tag4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1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1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SLIDE_TYPE" val="text"/>
  <p:tag name="KSO_WM_BEAUTIFY_FLAG" val="#wm#"/>
</p:tagLst>
</file>

<file path=ppt/tags/tag41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1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418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1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420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42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22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423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42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4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426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42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28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429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430.xml><?xml version="1.0" encoding="utf-8"?>
<p:tagLst xmlns:p="http://schemas.openxmlformats.org/presentationml/2006/main">
  <p:tag name="KSO_WM_UNIT_TEXT" val="1. Problem State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31.xml><?xml version="1.0" encoding="utf-8"?>
<p:tagLst xmlns:p="http://schemas.openxmlformats.org/presentationml/2006/main">
  <p:tag name="KSO_WM_SLIDE_TYPE" val="text"/>
  <p:tag name="KSO_WM_BEAUTIFY_FLAG" val="#wm#"/>
</p:tagLst>
</file>

<file path=ppt/tags/tag432.xml><?xml version="1.0" encoding="utf-8"?>
<p:tagLst xmlns:p="http://schemas.openxmlformats.org/presentationml/2006/main">
  <p:tag name="KSO_WM_UNIT_INDEX" val="1_1_6"/>
  <p:tag name="KSO_WM_UNIT_TYPE" val="l_h_f"/>
  <p:tag name="KSO_WM_TEMPLATE_CATEGORY" val="diagram"/>
  <p:tag name="KSO_WM_TEMPLATE_INDEX" val="19882022"/>
  <p:tag name="KSO_WM_UNIT_ID" val="diagram19882022*l_h_f*1_1_6"/>
  <p:tag name="KSO_WM_DIAGRAM_GROUP_CODE" val="l1-1"/>
  <p:tag name="KSO_WM_TAG_VERSION" val="2.0"/>
  <p:tag name="KSO_WM_BEAUTIFY_FLAG" val="#wm#"/>
  <p:tag name="KSO_WM_UNIT_SUBTYPE" val="a"/>
</p:tagLst>
</file>

<file path=ppt/tags/tag433.xml><?xml version="1.0" encoding="utf-8"?>
<p:tagLst xmlns:p="http://schemas.openxmlformats.org/presentationml/2006/main">
  <p:tag name="KSO_WM_UNIT_INDEX" val="1_2_6"/>
  <p:tag name="KSO_WM_UNIT_TYPE" val="l_h_f"/>
  <p:tag name="KSO_WM_TEMPLATE_CATEGORY" val="diagram"/>
  <p:tag name="KSO_WM_TEMPLATE_INDEX" val="19882022"/>
  <p:tag name="KSO_WM_UNIT_ID" val="diagram19882022*l_h_f*1_2_6"/>
  <p:tag name="KSO_WM_DIAGRAM_GROUP_CODE" val="l1-1"/>
  <p:tag name="KSO_WM_TAG_VERSION" val="2.0"/>
  <p:tag name="KSO_WM_BEAUTIFY_FLAG" val="#wm#"/>
  <p:tag name="KSO_WM_UNIT_SUBTYPE" val="a"/>
</p:tagLst>
</file>

<file path=ppt/tags/tag434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35.xml><?xml version="1.0" encoding="utf-8"?>
<p:tagLst xmlns:p="http://schemas.openxmlformats.org/presentationml/2006/main">
  <p:tag name="KSO_WM_UNIT_TEXT" val="Traffic Route Optimiz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436.xml><?xml version="1.0" encoding="utf-8"?>
<p:tagLst xmlns:p="http://schemas.openxmlformats.org/presentationml/2006/main">
  <p:tag name="KSO_WM_SLIDE_TYPE" val="text"/>
  <p:tag name="KSO_WM_BEAUTIFY_FLAG" val="#wm#"/>
</p:tagLst>
</file>

<file path=ppt/tags/tag43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4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39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40.xml><?xml version="1.0" encoding="utf-8"?>
<p:tagLst xmlns:p="http://schemas.openxmlformats.org/presentationml/2006/main">
  <p:tag name="KSO_WM_UNIT_TEXT" val="2. Graph Model &amp; Optimization Objecti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41.xml><?xml version="1.0" encoding="utf-8"?>
<p:tagLst xmlns:p="http://schemas.openxmlformats.org/presentationml/2006/main">
  <p:tag name="KSO_WM_SLIDE_TYPE" val="text"/>
  <p:tag name="KSO_WM_BEAUTIFY_FLAG" val="#wm#"/>
</p:tagLst>
</file>

<file path=ppt/tags/tag44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4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4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44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4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448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49.xml><?xml version="1.0" encoding="utf-8"?>
<p:tagLst xmlns:p="http://schemas.openxmlformats.org/presentationml/2006/main">
  <p:tag name="KSO_WM_UNIT_TEXT" val="4. Congestion Simulation &amp; Route Comparis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50.xml><?xml version="1.0" encoding="utf-8"?>
<p:tagLst xmlns:p="http://schemas.openxmlformats.org/presentationml/2006/main">
  <p:tag name="KSO_WM_SLIDE_TYPE" val="text"/>
  <p:tag name="KSO_WM_BEAUTIFY_FLAG" val="#wm#"/>
</p:tagLst>
</file>

<file path=ppt/tags/tag45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54.xml><?xml version="1.0" encoding="utf-8"?>
<p:tagLst xmlns:p="http://schemas.openxmlformats.org/presentationml/2006/main">
  <p:tag name="KSO_WM_UNIT_TEXT" val="5. Proposed System Architectur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455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10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615DFF"/>
      </a:accent1>
      <a:accent2>
        <a:srgbClr val="33C6FD"/>
      </a:accent2>
      <a:accent3>
        <a:srgbClr val="6694FC"/>
      </a:accent3>
      <a:accent4>
        <a:srgbClr val="9963FA"/>
      </a:accent4>
      <a:accent5>
        <a:srgbClr val="CC31F9"/>
      </a:accent5>
      <a:accent6>
        <a:srgbClr val="E646C8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2481</Words>
  <Application>WPS Presentation</Application>
  <PresentationFormat>On-screen Show (4:3)</PresentationFormat>
  <Paragraphs>136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8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Manrope ExtraBold</vt:lpstr>
      <vt:lpstr>Segoe Print</vt:lpstr>
      <vt:lpstr>Lato</vt:lpstr>
      <vt:lpstr>Inter Bold</vt:lpstr>
      <vt:lpstr>Inter</vt:lpstr>
      <vt:lpstr>江城圆体 400W</vt:lpstr>
      <vt:lpstr>Charis SIL</vt:lpstr>
      <vt:lpstr>Crimson Text SemiBold</vt:lpstr>
      <vt:lpstr>Algerian</vt:lpstr>
      <vt:lpstr>Arial Black</vt:lpstr>
      <vt:lpstr>Angsana New</vt:lpstr>
      <vt:lpstr>Office Theme</vt:lpstr>
      <vt:lpstr>1_Office Theme</vt:lpstr>
      <vt:lpstr>2_Office Theme</vt:lpstr>
      <vt:lpstr>3_Office Theme</vt:lpstr>
      <vt:lpstr>4_Office Theme</vt:lpstr>
      <vt:lpstr>5_Office Theme</vt:lpstr>
      <vt:lpstr>PowerPoint 演示文稿</vt:lpstr>
      <vt:lpstr>Traffic Route Optimization</vt:lpstr>
      <vt:lpstr>1. Problem Statement</vt:lpstr>
      <vt:lpstr>2. Graph Model &amp; Optimization Objective</vt:lpstr>
      <vt:lpstr>3. Core Algorithms</vt:lpstr>
      <vt:lpstr>4. Congestion Simulation &amp; Route Comparison</vt:lpstr>
      <vt:lpstr>5. Proposed System Architecture</vt:lpstr>
      <vt:lpstr>6. Expected Output &amp; Project Significance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Suresh Suresh</cp:lastModifiedBy>
  <cp:revision>2</cp:revision>
  <dcterms:created xsi:type="dcterms:W3CDTF">2013-01-27T09:14:00Z</dcterms:created>
  <dcterms:modified xsi:type="dcterms:W3CDTF">2026-10-03T05:46:24Z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FDB988F5F4204FC99A59AED34E01A94E_12</vt:lpwstr>
  </property>
</Properties>
</file>